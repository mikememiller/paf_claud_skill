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1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F6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548640" cy="146304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5" name="Shape 3"/>
          <p:cNvSpPr/>
          <p:nvPr/>
        </p:nvSpPr>
        <p:spPr>
          <a:xfrm>
            <a:off x="1371600" y="2011680"/>
            <a:ext cx="548640" cy="146304"/>
          </a:xfrm>
          <a:prstGeom prst="rect">
            <a:avLst/>
          </a:prstGeom>
          <a:solidFill>
            <a:srgbClr val="1EB4E6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2011680"/>
            <a:ext cx="548640" cy="146304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PAF Agent Factory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841248" y="33832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B4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Deliverables Catalog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41248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7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every engagement ships — one branded, QA-gated, no-drift set.</a:t>
            </a:r>
            <a:endParaRPr lang="en-US" sz="1600" dirty="0"/>
          </a:p>
        </p:txBody>
      </p:sp>
      <p:pic>
        <p:nvPicPr>
          <p:cNvPr id="10" name="Image 0" descr="/home/claude/skill-work/assets/syntax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15000"/>
            <a:ext cx="2011680" cy="106216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943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1D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Private Agent Factory 26.4 · domain-neutral core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41F6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310896" cy="91440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4" name="Shape 2"/>
          <p:cNvSpPr/>
          <p:nvPr/>
        </p:nvSpPr>
        <p:spPr>
          <a:xfrm>
            <a:off x="768096" y="384048"/>
            <a:ext cx="310896" cy="91440"/>
          </a:xfrm>
          <a:prstGeom prst="rect">
            <a:avLst/>
          </a:prstGeom>
          <a:solidFill>
            <a:srgbClr val="1EB4E6"/>
          </a:solidFill>
          <a:ln/>
        </p:spPr>
      </p:sp>
      <p:sp>
        <p:nvSpPr>
          <p:cNvPr id="5" name="Shape 3"/>
          <p:cNvSpPr/>
          <p:nvPr/>
        </p:nvSpPr>
        <p:spPr>
          <a:xfrm>
            <a:off x="1078992" y="384048"/>
            <a:ext cx="310896" cy="91440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46304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every engagement ships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54480" y="56692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→ build → package .paf → import + rebind → validate</a:t>
            </a:r>
            <a:endParaRPr lang="en-US" sz="1300" dirty="0"/>
          </a:p>
        </p:txBody>
      </p:sp>
      <p:pic>
        <p:nvPicPr>
          <p:cNvPr id="8" name="Image 0" descr="/home/claude/skill-work/assets/syntax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274320"/>
            <a:ext cx="1143000" cy="603504"/>
          </a:xfrm>
          <a:prstGeom prst="rect">
            <a:avLst/>
          </a:prstGeom>
        </p:spPr>
      </p:pic>
      <p:pic>
        <p:nvPicPr>
          <p:cNvPr id="9" name="Image 1" descr="/home/claude/skill-work/deliverables/assets/deliverables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274552" cy="634193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12700">
            <a:solidFill>
              <a:srgbClr val="DCE4F4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© 2026 · Confidential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41F6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310896" cy="91440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4" name="Shape 2"/>
          <p:cNvSpPr/>
          <p:nvPr/>
        </p:nvSpPr>
        <p:spPr>
          <a:xfrm>
            <a:off x="768096" y="384048"/>
            <a:ext cx="310896" cy="91440"/>
          </a:xfrm>
          <a:prstGeom prst="rect">
            <a:avLst/>
          </a:prstGeom>
          <a:solidFill>
            <a:srgbClr val="1EB4E6"/>
          </a:solidFill>
          <a:ln/>
        </p:spPr>
      </p:sp>
      <p:sp>
        <p:nvSpPr>
          <p:cNvPr id="5" name="Shape 3"/>
          <p:cNvSpPr/>
          <p:nvPr/>
        </p:nvSpPr>
        <p:spPr>
          <a:xfrm>
            <a:off x="1078992" y="384048"/>
            <a:ext cx="310896" cy="91440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46304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Customer-facing deliverables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54480" y="56692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one source of truth — pricing identical everywhere</a:t>
            </a:r>
            <a:endParaRPr lang="en-US" sz="1300" dirty="0"/>
          </a:p>
        </p:txBody>
      </p:sp>
      <p:pic>
        <p:nvPicPr>
          <p:cNvPr id="8" name="Image 0" descr="/home/claude/skill-work/assets/syntax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274320"/>
            <a:ext cx="1143000" cy="6035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34440"/>
            <a:ext cx="26974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234440"/>
            <a:ext cx="2697480" cy="109728"/>
          </a:xfrm>
          <a:prstGeom prst="rect">
            <a:avLst/>
          </a:prstGeom>
          <a:solidFill>
            <a:srgbClr val="1EB4E6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1453896"/>
            <a:ext cx="2368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Sales / exec deck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1792" y="189280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EB4E6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189280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1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.pptx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21792" y="2258568"/>
            <a:ext cx="23682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why: problem, agentic solution, architecture, ROI headline. Hero graphics.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319272" y="1234440"/>
            <a:ext cx="26974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319272" y="1234440"/>
            <a:ext cx="2697480" cy="109728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17" name="Text 14"/>
          <p:cNvSpPr/>
          <p:nvPr/>
        </p:nvSpPr>
        <p:spPr>
          <a:xfrm>
            <a:off x="3483864" y="1453896"/>
            <a:ext cx="2368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Installation guide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83864" y="189280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632A0"/>
          </a:solidFill>
          <a:ln/>
        </p:spPr>
      </p:sp>
      <p:sp>
        <p:nvSpPr>
          <p:cNvPr id="19" name="Text 16"/>
          <p:cNvSpPr/>
          <p:nvPr/>
        </p:nvSpPr>
        <p:spPr>
          <a:xfrm>
            <a:off x="3483864" y="189280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.docx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483864" y="2258568"/>
            <a:ext cx="23682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Prereqs, deploy, register MCP, import .paf, rebind, smoke-test.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81344" y="1234440"/>
            <a:ext cx="26974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81344" y="1234440"/>
            <a:ext cx="2697480" cy="109728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23" name="Text 20"/>
          <p:cNvSpPr/>
          <p:nvPr/>
        </p:nvSpPr>
        <p:spPr>
          <a:xfrm>
            <a:off x="6345936" y="1453896"/>
            <a:ext cx="2368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design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45936" y="189280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632A0"/>
          </a:solidFill>
          <a:ln/>
        </p:spPr>
      </p:sp>
      <p:sp>
        <p:nvSpPr>
          <p:cNvPr id="25" name="Text 22"/>
          <p:cNvSpPr/>
          <p:nvPr/>
        </p:nvSpPr>
        <p:spPr>
          <a:xfrm>
            <a:off x="6345936" y="189280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.docx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345936" y="2258568"/>
            <a:ext cx="23682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policy, interface contract, security, QA strategy + diagram.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043416" y="1234440"/>
            <a:ext cx="26974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043416" y="1234440"/>
            <a:ext cx="2697480" cy="109728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29" name="Text 26"/>
          <p:cNvSpPr/>
          <p:nvPr/>
        </p:nvSpPr>
        <p:spPr>
          <a:xfrm>
            <a:off x="9208008" y="1453896"/>
            <a:ext cx="2368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Statement of Work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9208008" y="189280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632A0"/>
          </a:solidFill>
          <a:ln/>
        </p:spPr>
      </p:sp>
      <p:sp>
        <p:nvSpPr>
          <p:cNvPr id="31" name="Text 28"/>
          <p:cNvSpPr/>
          <p:nvPr/>
        </p:nvSpPr>
        <p:spPr>
          <a:xfrm>
            <a:off x="9208008" y="189280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.docx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208008" y="2258568"/>
            <a:ext cx="23682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RACI, milestones, 12/24/36-mo pricing, signature. Generic legal shell.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57200" y="3657600"/>
            <a:ext cx="26974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3657600"/>
            <a:ext cx="2697480" cy="109728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35" name="Text 32"/>
          <p:cNvSpPr/>
          <p:nvPr/>
        </p:nvSpPr>
        <p:spPr>
          <a:xfrm>
            <a:off x="621792" y="3877056"/>
            <a:ext cx="2368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 BOM + estimator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21792" y="431596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3CC85A"/>
          </a:solidFill>
          <a:ln/>
        </p:spPr>
      </p:sp>
      <p:sp>
        <p:nvSpPr>
          <p:cNvPr id="37" name="Text 34"/>
          <p:cNvSpPr/>
          <p:nvPr/>
        </p:nvSpPr>
        <p:spPr>
          <a:xfrm>
            <a:off x="621792" y="43159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1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.xlsx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21792" y="4681728"/>
            <a:ext cx="23682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line items (ADB/PAF, managed MCP, GenAI) + consumption flex.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3319272" y="3657600"/>
            <a:ext cx="26974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319272" y="3657600"/>
            <a:ext cx="2697480" cy="109728"/>
          </a:xfrm>
          <a:prstGeom prst="rect">
            <a:avLst/>
          </a:prstGeom>
          <a:solidFill>
            <a:srgbClr val="F1D488"/>
          </a:solidFill>
          <a:ln/>
        </p:spPr>
      </p:sp>
      <p:sp>
        <p:nvSpPr>
          <p:cNvPr id="41" name="Text 38"/>
          <p:cNvSpPr/>
          <p:nvPr/>
        </p:nvSpPr>
        <p:spPr>
          <a:xfrm>
            <a:off x="3483864" y="3877056"/>
            <a:ext cx="2368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ROI calculator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483864" y="431596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1D488"/>
          </a:solidFill>
          <a:ln/>
        </p:spPr>
      </p:sp>
      <p:sp>
        <p:nvSpPr>
          <p:cNvPr id="43" name="Text 40"/>
          <p:cNvSpPr/>
          <p:nvPr/>
        </p:nvSpPr>
        <p:spPr>
          <a:xfrm>
            <a:off x="3483864" y="43159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1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.html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3483864" y="4681728"/>
            <a:ext cx="23682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payback / NPV; 'use my data' mode. Same pricing inputs.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181344" y="3657600"/>
            <a:ext cx="26974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181344" y="3657600"/>
            <a:ext cx="2697480" cy="109728"/>
          </a:xfrm>
          <a:prstGeom prst="rect">
            <a:avLst/>
          </a:prstGeom>
          <a:solidFill>
            <a:srgbClr val="041F66"/>
          </a:solidFill>
          <a:ln/>
        </p:spPr>
      </p:sp>
      <p:sp>
        <p:nvSpPr>
          <p:cNvPr id="47" name="Text 44"/>
          <p:cNvSpPr/>
          <p:nvPr/>
        </p:nvSpPr>
        <p:spPr>
          <a:xfrm>
            <a:off x="6345936" y="3877056"/>
            <a:ext cx="2368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PAF integration pkg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6345936" y="431596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41F66"/>
          </a:solidFill>
          <a:ln/>
        </p:spPr>
      </p:sp>
      <p:sp>
        <p:nvSpPr>
          <p:cNvPr id="49" name="Text 46"/>
          <p:cNvSpPr/>
          <p:nvPr/>
        </p:nvSpPr>
        <p:spPr>
          <a:xfrm>
            <a:off x="6345936" y="43159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.paf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6345936" y="4681728"/>
            <a:ext cx="23682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Importable bundle (password simple4u) + MCP tool defs + canvas recipe.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9043416" y="3657600"/>
            <a:ext cx="26974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043416" y="3657600"/>
            <a:ext cx="2697480" cy="109728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53" name="Text 50"/>
          <p:cNvSpPr/>
          <p:nvPr/>
        </p:nvSpPr>
        <p:spPr>
          <a:xfrm>
            <a:off x="9208008" y="3877056"/>
            <a:ext cx="2368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Monitoring &amp; obs TDD</a:t>
            </a:r>
            <a:endParaRPr lang="en-US" sz="1400" dirty="0"/>
          </a:p>
        </p:txBody>
      </p:sp>
      <p:sp>
        <p:nvSpPr>
          <p:cNvPr id="54" name="Shape 51"/>
          <p:cNvSpPr/>
          <p:nvPr/>
        </p:nvSpPr>
        <p:spPr>
          <a:xfrm>
            <a:off x="9208008" y="431596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632A0"/>
          </a:solidFill>
          <a:ln/>
        </p:spPr>
      </p:sp>
      <p:sp>
        <p:nvSpPr>
          <p:cNvPr id="55" name="Text 52"/>
          <p:cNvSpPr/>
          <p:nvPr/>
        </p:nvSpPr>
        <p:spPr>
          <a:xfrm>
            <a:off x="9208008" y="43159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.docx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9208008" y="4681728"/>
            <a:ext cx="23682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Two-plane supervision design (Plane A traces + Plane B availability) + CxHub data contract. Per-tenancy.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12700">
            <a:solidFill>
              <a:srgbClr val="DCE4F4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45720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© 2026 · Confidential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41F6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310896" cy="91440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4" name="Shape 2"/>
          <p:cNvSpPr/>
          <p:nvPr/>
        </p:nvSpPr>
        <p:spPr>
          <a:xfrm>
            <a:off x="768096" y="384048"/>
            <a:ext cx="310896" cy="91440"/>
          </a:xfrm>
          <a:prstGeom prst="rect">
            <a:avLst/>
          </a:prstGeom>
          <a:solidFill>
            <a:srgbClr val="1EB4E6"/>
          </a:solidFill>
          <a:ln/>
        </p:spPr>
      </p:sp>
      <p:sp>
        <p:nvSpPr>
          <p:cNvPr id="5" name="Shape 3"/>
          <p:cNvSpPr/>
          <p:nvPr/>
        </p:nvSpPr>
        <p:spPr>
          <a:xfrm>
            <a:off x="1078992" y="384048"/>
            <a:ext cx="310896" cy="91440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46304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&amp; governance deliverables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54480" y="56692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agent is correct — not just plausible</a:t>
            </a:r>
            <a:endParaRPr lang="en-US" sz="1300" dirty="0"/>
          </a:p>
        </p:txBody>
      </p:sp>
      <p:pic>
        <p:nvPicPr>
          <p:cNvPr id="8" name="Image 0" descr="/home/claude/skill-work/assets/syntax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274320"/>
            <a:ext cx="1143000" cy="6035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3444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234440"/>
            <a:ext cx="3611880" cy="109728"/>
          </a:xfrm>
          <a:prstGeom prst="rect">
            <a:avLst/>
          </a:prstGeom>
          <a:solidFill>
            <a:srgbClr val="041F66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1453896"/>
            <a:ext cx="3282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1792" y="189280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41F66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189280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21792" y="2258568"/>
            <a:ext cx="32826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.paf bundle(s) + Agent Spec content + clone-able flowGraph templates.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233672" y="123444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33672" y="1234440"/>
            <a:ext cx="3611880" cy="109728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17" name="Text 14"/>
          <p:cNvSpPr/>
          <p:nvPr/>
        </p:nvSpPr>
        <p:spPr>
          <a:xfrm>
            <a:off x="4398264" y="1453896"/>
            <a:ext cx="3282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 engine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398264" y="189280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632A0"/>
          </a:solidFill>
          <a:ln/>
        </p:spPr>
      </p:sp>
      <p:sp>
        <p:nvSpPr>
          <p:cNvPr id="19" name="Text 16"/>
          <p:cNvSpPr/>
          <p:nvPr/>
        </p:nvSpPr>
        <p:spPr>
          <a:xfrm>
            <a:off x="4398264" y="189280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398264" y="2258568"/>
            <a:ext cx="32826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pipeline — reference impl + mock + test oracle.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10144" y="123444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10144" y="1234440"/>
            <a:ext cx="3611880" cy="109728"/>
          </a:xfrm>
          <a:prstGeom prst="rect">
            <a:avLst/>
          </a:prstGeom>
          <a:solidFill>
            <a:srgbClr val="1EB4E6"/>
          </a:solidFill>
          <a:ln/>
        </p:spPr>
      </p:sp>
      <p:sp>
        <p:nvSpPr>
          <p:cNvPr id="23" name="Text 20"/>
          <p:cNvSpPr/>
          <p:nvPr/>
        </p:nvSpPr>
        <p:spPr>
          <a:xfrm>
            <a:off x="8174736" y="1453896"/>
            <a:ext cx="3282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 logic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174736" y="189280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EB4E6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189280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1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PL/SQL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174736" y="2258568"/>
            <a:ext cx="32826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System-of-record runs the logic (e.g. EBS XX… package) + MCP tool defs.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65760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7200" y="3657600"/>
            <a:ext cx="3611880" cy="109728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29" name="Text 26"/>
          <p:cNvSpPr/>
          <p:nvPr/>
        </p:nvSpPr>
        <p:spPr>
          <a:xfrm>
            <a:off x="621792" y="3877056"/>
            <a:ext cx="3282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suite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21792" y="431596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3CC85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43159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1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21792" y="4681728"/>
            <a:ext cx="32826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Hermetic + live golden + parity + packager round-trip tests.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233672" y="365760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33672" y="3657600"/>
            <a:ext cx="3611880" cy="109728"/>
          </a:xfrm>
          <a:prstGeom prst="rect">
            <a:avLst/>
          </a:prstGeom>
          <a:solidFill>
            <a:srgbClr val="F1D488"/>
          </a:solidFill>
          <a:ln/>
        </p:spPr>
      </p:sp>
      <p:sp>
        <p:nvSpPr>
          <p:cNvPr id="35" name="Text 32"/>
          <p:cNvSpPr/>
          <p:nvPr/>
        </p:nvSpPr>
        <p:spPr>
          <a:xfrm>
            <a:off x="4398264" y="3877056"/>
            <a:ext cx="3282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 gate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4398264" y="431596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1D488"/>
          </a:solidFill>
          <a:ln/>
        </p:spPr>
      </p:sp>
      <p:sp>
        <p:nvSpPr>
          <p:cNvPr id="37" name="Text 34"/>
          <p:cNvSpPr/>
          <p:nvPr/>
        </p:nvSpPr>
        <p:spPr>
          <a:xfrm>
            <a:off x="4398264" y="43159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1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4398264" y="4681728"/>
            <a:ext cx="32826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scenarios + HITL + guardrails. Zero unsafe actions = PASS.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8010144" y="365760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010144" y="3657600"/>
            <a:ext cx="3611880" cy="109728"/>
          </a:xfrm>
          <a:prstGeom prst="rect">
            <a:avLst/>
          </a:prstGeom>
          <a:solidFill>
            <a:srgbClr val="5B6577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877056"/>
            <a:ext cx="3282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 report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8174736" y="431596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5B6577"/>
          </a:solidFill>
          <a:ln/>
        </p:spPr>
      </p:sp>
      <p:sp>
        <p:nvSpPr>
          <p:cNvPr id="43" name="Text 40"/>
          <p:cNvSpPr/>
          <p:nvPr/>
        </p:nvSpPr>
        <p:spPr>
          <a:xfrm>
            <a:off x="8174736" y="43159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74736" y="4681728"/>
            <a:ext cx="328269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Bug-hunt-to-zero record + honesty register.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12700">
            <a:solidFill>
              <a:srgbClr val="DCE4F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5720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© 2026 · Confidential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41F6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310896" cy="91440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4" name="Shape 2"/>
          <p:cNvSpPr/>
          <p:nvPr/>
        </p:nvSpPr>
        <p:spPr>
          <a:xfrm>
            <a:off x="768096" y="384048"/>
            <a:ext cx="310896" cy="91440"/>
          </a:xfrm>
          <a:prstGeom prst="rect">
            <a:avLst/>
          </a:prstGeom>
          <a:solidFill>
            <a:srgbClr val="1EB4E6"/>
          </a:solidFill>
          <a:ln/>
        </p:spPr>
      </p:sp>
      <p:sp>
        <p:nvSpPr>
          <p:cNvPr id="5" name="Shape 3"/>
          <p:cNvSpPr/>
          <p:nvPr/>
        </p:nvSpPr>
        <p:spPr>
          <a:xfrm>
            <a:off x="1078992" y="384048"/>
            <a:ext cx="310896" cy="91440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46304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Adult supervision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54480" y="56692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Two-plane monitoring — platform availability + agent observability, one pane</a:t>
            </a:r>
            <a:endParaRPr lang="en-US" sz="1300" dirty="0"/>
          </a:p>
        </p:txBody>
      </p:sp>
      <p:pic>
        <p:nvPicPr>
          <p:cNvPr id="8" name="Image 0" descr="/home/claude/skill-work/assets/syntax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274320"/>
            <a:ext cx="1143000" cy="6035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234440"/>
            <a:ext cx="5486400" cy="3246120"/>
          </a:xfrm>
          <a:prstGeom prst="roundRect">
            <a:avLst>
              <a:gd name="adj" fmla="val 2817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234440"/>
            <a:ext cx="5486400" cy="146304"/>
          </a:xfrm>
          <a:prstGeom prst="rect">
            <a:avLst/>
          </a:prstGeom>
          <a:solidFill>
            <a:srgbClr val="1EB4E6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Plane A · Agent observability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13232" y="188366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13232" y="2286000"/>
            <a:ext cx="49834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traced — step, tool call, LLM call; latency and cost attributed per run, agent and time window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 success rate flags a degraded MCP server or ERP backend before users feel it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evaluators score groundedness and tool-call validity — quality without storing payloads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45352" y="1234440"/>
            <a:ext cx="5486400" cy="3246120"/>
          </a:xfrm>
          <a:prstGeom prst="roundRect">
            <a:avLst>
              <a:gd name="adj" fmla="val 2817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45352" y="1234440"/>
            <a:ext cx="5486400" cy="146304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16" name="Text 13"/>
          <p:cNvSpPr/>
          <p:nvPr/>
        </p:nvSpPr>
        <p:spPr>
          <a:xfrm>
            <a:off x="6501384" y="148132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Plane B · Platform availability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501384" y="188366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C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STAKES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501384" y="2286000"/>
            <a:ext cx="49834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probes replicate every PAF connection — DB 26ai, model endpoint, MCP, egress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Credential-expiry calendar and config-drift watch catch silent outages before they fire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SLA-backed: PAF/UI 99.5%, DB reachability 99.9%, MCP tool-call success ≥ 98%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4709160"/>
            <a:ext cx="11274552" cy="777240"/>
          </a:xfrm>
          <a:prstGeom prst="roundRect">
            <a:avLst>
              <a:gd name="adj" fmla="val 9412"/>
            </a:avLst>
          </a:prstGeom>
          <a:solidFill>
            <a:srgbClr val="041F66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470916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as: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observability TDD (.docx)   ·   CxHub data contract (.json)   ·   Plane B probe set   ·   per-agent OAuth audit chain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56235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3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is the giveaway; supervision is the product — the recurring value the foundation fee funds.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12700">
            <a:solidFill>
              <a:srgbClr val="DCE4F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© 2026 · Confidential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41F6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310896" cy="91440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4" name="Shape 2"/>
          <p:cNvSpPr/>
          <p:nvPr/>
        </p:nvSpPr>
        <p:spPr>
          <a:xfrm>
            <a:off x="768096" y="384048"/>
            <a:ext cx="310896" cy="91440"/>
          </a:xfrm>
          <a:prstGeom prst="rect">
            <a:avLst/>
          </a:prstGeom>
          <a:solidFill>
            <a:srgbClr val="1EB4E6"/>
          </a:solidFill>
          <a:ln/>
        </p:spPr>
      </p:sp>
      <p:sp>
        <p:nvSpPr>
          <p:cNvPr id="5" name="Shape 3"/>
          <p:cNvSpPr/>
          <p:nvPr/>
        </p:nvSpPr>
        <p:spPr>
          <a:xfrm>
            <a:off x="1078992" y="384048"/>
            <a:ext cx="310896" cy="91440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46304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right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54480" y="56692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deliverables are trustworthy</a:t>
            </a:r>
            <a:endParaRPr lang="en-US" sz="1300" dirty="0"/>
          </a:p>
        </p:txBody>
      </p:sp>
      <p:pic>
        <p:nvPicPr>
          <p:cNvPr id="8" name="Image 0" descr="/home/claude/skill-work/assets/syntax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274320"/>
            <a:ext cx="1143000" cy="6035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371600"/>
            <a:ext cx="3703320" cy="4206240"/>
          </a:xfrm>
          <a:prstGeom prst="roundRect">
            <a:avLst>
              <a:gd name="adj" fmla="val 2469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3703320" cy="146304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6916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632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685800" y="26060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 source of truth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" y="3291840"/>
            <a:ext cx="32461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files are generated from in-repo markdown + one pricing model. Edit the source, regenerate — deck, SOW, and ROI never disagree.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325112" y="1371600"/>
            <a:ext cx="3703320" cy="4206240"/>
          </a:xfrm>
          <a:prstGeom prst="roundRect">
            <a:avLst>
              <a:gd name="adj" fmla="val 2469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25112" y="1371600"/>
            <a:ext cx="3703320" cy="146304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16" name="Text 13"/>
          <p:cNvSpPr/>
          <p:nvPr/>
        </p:nvSpPr>
        <p:spPr>
          <a:xfrm>
            <a:off x="4553712" y="16916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CC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7" name="Text 14"/>
          <p:cNvSpPr/>
          <p:nvPr/>
        </p:nvSpPr>
        <p:spPr>
          <a:xfrm>
            <a:off x="4553712" y="26060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QA-gated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53712" y="3291840"/>
            <a:ext cx="32461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generated until the QA gate is green: hermetic + live + parity tests pass, and the validation gate shows zero unsafe actions.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193024" y="1371600"/>
            <a:ext cx="3703320" cy="4206240"/>
          </a:xfrm>
          <a:prstGeom prst="roundRect">
            <a:avLst>
              <a:gd name="adj" fmla="val 2469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93024" y="1371600"/>
            <a:ext cx="3703320" cy="146304"/>
          </a:xfrm>
          <a:prstGeom prst="rect">
            <a:avLst/>
          </a:prstGeom>
          <a:solidFill>
            <a:srgbClr val="1EB4E6"/>
          </a:solidFill>
          <a:ln/>
        </p:spPr>
      </p:sp>
      <p:sp>
        <p:nvSpPr>
          <p:cNvPr id="21" name="Text 18"/>
          <p:cNvSpPr/>
          <p:nvPr/>
        </p:nvSpPr>
        <p:spPr>
          <a:xfrm>
            <a:off x="8421624" y="16916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B4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22" name="Text 19"/>
          <p:cNvSpPr/>
          <p:nvPr/>
        </p:nvSpPr>
        <p:spPr>
          <a:xfrm>
            <a:off x="8421624" y="26060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brand, hero graphics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8421624" y="3291840"/>
            <a:ext cx="32461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reads from one brand source (palette, fonts, logo, tri-color motif); hero diagrams render once and are reused across deck / design / SOW.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12700">
            <a:solidFill>
              <a:srgbClr val="DCE4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© 2026 · Confidential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41F6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310896" cy="91440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4" name="Shape 2"/>
          <p:cNvSpPr/>
          <p:nvPr/>
        </p:nvSpPr>
        <p:spPr>
          <a:xfrm>
            <a:off x="768096" y="384048"/>
            <a:ext cx="310896" cy="91440"/>
          </a:xfrm>
          <a:prstGeom prst="rect">
            <a:avLst/>
          </a:prstGeom>
          <a:solidFill>
            <a:srgbClr val="1EB4E6"/>
          </a:solidFill>
          <a:ln/>
        </p:spPr>
      </p:sp>
      <p:sp>
        <p:nvSpPr>
          <p:cNvPr id="5" name="Shape 3"/>
          <p:cNvSpPr/>
          <p:nvPr/>
        </p:nvSpPr>
        <p:spPr>
          <a:xfrm>
            <a:off x="1078992" y="384048"/>
            <a:ext cx="310896" cy="91440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46304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deliverables are created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54480" y="56692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catalog + per-engagement artifacts</a:t>
            </a:r>
            <a:endParaRPr lang="en-US" sz="1300" dirty="0"/>
          </a:p>
        </p:txBody>
      </p:sp>
      <p:pic>
        <p:nvPicPr>
          <p:cNvPr id="8" name="Image 0" descr="/home/claude/skill-work/assets/syntax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274320"/>
            <a:ext cx="1143000" cy="60350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371600"/>
            <a:ext cx="5486400" cy="4023360"/>
          </a:xfrm>
          <a:prstGeom prst="roundRect">
            <a:avLst>
              <a:gd name="adj" fmla="val 2273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486400" cy="146304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6459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factory (reusable)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3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paf_claud_skill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references/deliverables.md — the recipe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deliverables/ — this catalog doc + showcase deck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templates/deliverables/ — the generators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— the importable .paf + validation gate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17920" y="1371600"/>
            <a:ext cx="5486400" cy="4023360"/>
          </a:xfrm>
          <a:prstGeom prst="roundRect">
            <a:avLst>
              <a:gd name="adj" fmla="val 2273"/>
            </a:avLst>
          </a:prstGeom>
          <a:solidFill>
            <a:srgbClr val="F4F7FC"/>
          </a:solidFill>
          <a:ln w="12700">
            <a:solidFill>
              <a:srgbClr val="DCE4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17920" y="1371600"/>
            <a:ext cx="5486400" cy="146304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15" name="Text 12"/>
          <p:cNvSpPr/>
          <p:nvPr/>
        </p:nvSpPr>
        <p:spPr>
          <a:xfrm>
            <a:off x="6446520" y="16459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engagement (the actual files)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446520" y="228600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3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own git repo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deliverables/ — the .docx / .xlsx / .html / .pptx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slides/ — the deck + hero-diagram generators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EBS-Contract-Renewal-PAF (the EBS AP agent)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12700">
            <a:solidFill>
              <a:srgbClr val="DCE4F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64373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© 2026 · Confidential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41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94560"/>
            <a:ext cx="548640" cy="146304"/>
          </a:xfrm>
          <a:prstGeom prst="rect">
            <a:avLst/>
          </a:prstGeom>
          <a:solidFill>
            <a:srgbClr val="0632A0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194560"/>
            <a:ext cx="548640" cy="146304"/>
          </a:xfrm>
          <a:prstGeom prst="rect">
            <a:avLst/>
          </a:prstGeom>
          <a:solidFill>
            <a:srgbClr val="1EB4E6"/>
          </a:solidFill>
          <a:ln/>
        </p:spPr>
      </p:sp>
      <p:sp>
        <p:nvSpPr>
          <p:cNvPr id="4" name="Shape 2"/>
          <p:cNvSpPr/>
          <p:nvPr/>
        </p:nvSpPr>
        <p:spPr>
          <a:xfrm>
            <a:off x="1920240" y="2194560"/>
            <a:ext cx="548640" cy="146304"/>
          </a:xfrm>
          <a:prstGeom prst="rect">
            <a:avLst/>
          </a:prstGeom>
          <a:solidFill>
            <a:srgbClr val="3CC85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factory. Every deliverable.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566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Domain-neutral core · EBS bundled · branded, QA-gated, reproducible.</a:t>
            </a:r>
            <a:endParaRPr lang="en-US" sz="1600" dirty="0"/>
          </a:p>
        </p:txBody>
      </p:sp>
      <p:pic>
        <p:nvPicPr>
          <p:cNvPr id="7" name="Image 0" descr="/home/claude/skill-work/assets/syntax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2011680" cy="10621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0" y="60350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Corporation © 2026 · Confidential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Syntax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Syntax Corporation</dc:creator>
  <cp:lastModifiedBy>Syntax Corporation</cp:lastModifiedBy>
  <cp:revision>1</cp:revision>
  <dcterms:created xsi:type="dcterms:W3CDTF">2026-06-13T03:29:43Z</dcterms:created>
  <dcterms:modified xsi:type="dcterms:W3CDTF">2026-06-13T03:29:43Z</dcterms:modified>
</cp:coreProperties>
</file>