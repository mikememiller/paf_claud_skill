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value ($K)</c:v>
                </c:pt>
              </c:strCache>
            </c:strRef>
          </c:tx>
          <c:spPr>
            <a:solidFill>
              <a:srgbClr val="0632A0"/>
            </a:solidFill>
            <a:effectLst/>
          </c:spPr>
          <c:invertIfNegative val="0"/>
          <c:dLbls>
            <c:numFmt formatCode="&quot;$&quot;0&quot;K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32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B4E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C8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1D48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Processing
cost</c:v>
                  </c:pt>
                  <c:pt idx="1">
                    <c:v>Early-pay
discounts</c:v>
                  </c:pt>
                  <c:pt idx="2">
                    <c:v>Duplicate
prevention</c:v>
                  </c:pt>
                  <c:pt idx="3">
                    <c:v>Audit /
compliance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475</c:v>
                </c:pt>
                <c:pt idx="1">
                  <c:v>225</c:v>
                </c:pt>
                <c:pt idx="2">
                  <c:v>150</c:v>
                </c:pt>
                <c:pt idx="3">
                  <c:v>80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20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1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931920"/>
            <a:ext cx="2834640" cy="0"/>
          </a:xfrm>
          <a:prstGeom prst="line">
            <a:avLst/>
          </a:prstGeom>
          <a:noFill/>
          <a:ln w="38100">
            <a:solidFill>
              <a:srgbClr val="3CC85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3931920"/>
            <a:ext cx="1417320" cy="-2834640"/>
          </a:xfrm>
          <a:prstGeom prst="line">
            <a:avLst/>
          </a:prstGeom>
          <a:noFill/>
          <a:ln w="38100">
            <a:solidFill>
              <a:srgbClr val="0632A0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3931920"/>
            <a:ext cx="-1417320" cy="-2834640"/>
          </a:xfrm>
          <a:prstGeom prst="line">
            <a:avLst/>
          </a:prstGeom>
          <a:noFill/>
          <a:ln w="38100">
            <a:solidFill>
              <a:srgbClr val="1EB4E6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457200"/>
            <a:ext cx="2286000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pic>
        <p:nvPicPr>
          <p:cNvPr id="6" name="Image 0" descr="/Users/mikemiller/.claude/skills/ebs-paf-agent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03504"/>
            <a:ext cx="1828800" cy="965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AGENT FACTORY · ORACLE E-BUSINESS SUITE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 Invoice Automation Agent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566928" y="38862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Invoice-to-Match for EBS — extract, 3-way match, and code supplier invoices straight into the Payables Open Interface, validated against your live EBS data.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66928" y="5074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$2–3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" y="5623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invoice, automated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310128" y="5074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~$930K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3310128" y="5623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value (50K invoices)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053328" y="5074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053328" y="5623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preserved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552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AP is slow, costly, and error-prone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274320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19456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414016"/>
            <a:ext cx="429768" cy="4297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32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$12–15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6868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fully-loaded cost to process one invoice by hand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43400" y="1828800"/>
            <a:ext cx="3520440" cy="274320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219456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414016"/>
            <a:ext cx="429768" cy="4297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32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8–10 days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466344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cycle time — late payments, missed discounts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138160" y="1828800"/>
            <a:ext cx="3520440" cy="274320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58200" y="219456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2414016"/>
            <a:ext cx="429768" cy="4297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582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32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1–3%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845820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spend lost to duplicate and over-billed invoices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automation is a $3B+ category with multiple unicorns. Every EBS shop runs tens of thousands to millions of invoices a year — and pays incumbents $3–8 each.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EBS-native agent that does the AP grunt work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093976"/>
            <a:ext cx="429768" cy="4297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8288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Reads any invoice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258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email or text — a deterministic parser (zero external deps) with an optional LLM for messy/scanned docs.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1874520"/>
            <a:ext cx="868680" cy="868680"/>
          </a:xfrm>
          <a:prstGeom prst="ellipse">
            <a:avLst/>
          </a:prstGeom>
          <a:solidFill>
            <a:srgbClr val="1EB4E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209397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18288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Checks live EBS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223760" y="2258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Supplier, PO, receipts, tax and GL — read-only, org-scoped lookups against the real E-Business Suite.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29184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511296"/>
            <a:ext cx="429768" cy="4297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Matches &amp; codes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600200" y="36758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3-way match with price/qty tolerances, GL distribution inheritance and tax classification.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291840"/>
            <a:ext cx="868680" cy="868680"/>
          </a:xfrm>
          <a:prstGeom prst="ellipse">
            <a:avLst/>
          </a:prstGeom>
          <a:solidFill>
            <a:srgbClr val="1EB4E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511296"/>
            <a:ext cx="429768" cy="4297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2376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Validates &amp; delivers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7223760" y="36758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QA gate proves every invoice balances before it writes balanced AP Open Interface files.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agentic pattern as Oracle's Private Agent Factory contract-renewal blog — pointed at the far larger AP revenue pool.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EBS 19c owns the data + logic; PAF + managed MCP do the rest</a:t>
            </a:r>
            <a:endParaRPr lang="en-US" sz="2800" dirty="0"/>
          </a:p>
        </p:txBody>
      </p:sp>
      <p:pic>
        <p:nvPicPr>
          <p:cNvPr id="7" name="Image 0" descr="deliverables/sampl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9692640" cy="54521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auditors, not just speed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94960" cy="12801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212848"/>
            <a:ext cx="713232" cy="713232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38658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3736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Read-only by design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737360" y="24688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SELECTs against EBS; the single write path is off by default and touches interface tables only.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2200" y="1920240"/>
            <a:ext cx="5394960" cy="12801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46520" y="2212848"/>
            <a:ext cx="713232" cy="713232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238658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6092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Multi-org safe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7360920" y="24688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queries + FND_GLOBAL.APPS_INITIALIZE context; bind variables everywhere — no injection surface.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3383280"/>
            <a:ext cx="5394960" cy="12801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3675888"/>
            <a:ext cx="713232" cy="713232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84962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3736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policy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737360" y="39319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Match, tolerance and coding rules live outside the LLM — reproducible and explainable for SOX.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72200" y="3383280"/>
            <a:ext cx="5394960" cy="12801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446520" y="3675888"/>
            <a:ext cx="713232" cy="713232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3849624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6092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gate before load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7360920" y="39319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invoice is checked to balance, reconcile and resolve all FKs; failures are held, never imported.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interface row is stamped with the agent run-id and a confidence score — traceable end to end.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1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1737360"/>
            <a:ext cx="1280160" cy="0"/>
          </a:xfrm>
          <a:prstGeom prst="line">
            <a:avLst/>
          </a:prstGeom>
          <a:noFill/>
          <a:ln w="38100">
            <a:solidFill>
              <a:srgbClr val="3CC85A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1737360"/>
            <a:ext cx="640080" cy="-1280160"/>
          </a:xfrm>
          <a:prstGeom prst="line">
            <a:avLst/>
          </a:prstGeom>
          <a:noFill/>
          <a:ln w="38100">
            <a:solidFill>
              <a:srgbClr val="0632A0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1737360"/>
            <a:ext cx="-640080" cy="-1280160"/>
          </a:xfrm>
          <a:prstGeom prst="line">
            <a:avLst/>
          </a:prstGeom>
          <a:noFill/>
          <a:ln w="38100">
            <a:solidFill>
              <a:srgbClr val="1EB4E6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LIVE EBS VISION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invoice. Real PO. Clean match.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486400" cy="4023360"/>
          </a:xfrm>
          <a:prstGeom prst="rect">
            <a:avLst/>
          </a:prstGeom>
          <a:solidFill>
            <a:srgbClr val="0B2A7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 Order 3495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Network Devices · Org 204 · Oracle EBS 19c Vision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99816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lines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325880" y="33741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monitors, RAM, hard drives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813048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25880" y="37764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 / 500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325880" y="4087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vs received on every line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26280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44897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01-520-7530-0000-000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325880" y="4800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distribution inherited from the PO</a:t>
            </a:r>
            <a:endParaRPr lang="en-US" sz="11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395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25880" y="520293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$632,500.00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325880" y="5513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total — header balances to lines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355080" y="1874520"/>
            <a:ext cx="52578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549640" y="2240280"/>
            <a:ext cx="914400" cy="914400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459736"/>
            <a:ext cx="475488" cy="4754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583680" y="329184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STATUS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583680" y="3584448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5400" dirty="0"/>
          </a:p>
        </p:txBody>
      </p:sp>
      <p:sp>
        <p:nvSpPr>
          <p:cNvPr id="27" name="Text 20"/>
          <p:cNvSpPr/>
          <p:nvPr/>
        </p:nvSpPr>
        <p:spPr>
          <a:xfrm>
            <a:off x="6583680" y="4526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lines auto-approved · 0 errors · loadable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6583680" y="502920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the live database during the build — not a mock.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~$930K of annual value at 50K invoices/yr</a:t>
            </a:r>
            <a:endParaRPr lang="en-US" sz="2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2880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1828800"/>
            <a:ext cx="3931920" cy="402336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list price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95528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$25K–$50K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7955280" y="3108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priced per invoice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955280" y="3657600"/>
            <a:ext cx="3383280" cy="0"/>
          </a:xfrm>
          <a:prstGeom prst="line">
            <a:avLst/>
          </a:prstGeom>
          <a:noFill/>
          <a:ln w="12700">
            <a:solidFill>
              <a:srgbClr val="2746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55280" y="3840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20–40×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7955280" y="4526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agent fee — with margin to share with partners.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~$822,520/yr · payback ~1.4 mo · implementation $30,400 (fixed)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704088"/>
            <a:ext cx="201168" cy="0"/>
          </a:xfrm>
          <a:prstGeom prst="line">
            <a:avLst/>
          </a:prstGeom>
          <a:noFill/>
          <a:ln w="38100">
            <a:solidFill>
              <a:srgbClr val="3CC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704088"/>
            <a:ext cx="100584" cy="-201168"/>
          </a:xfrm>
          <a:prstGeom prst="line">
            <a:avLst/>
          </a:prstGeom>
          <a:noFill/>
          <a:ln w="38100">
            <a:solidFill>
              <a:srgbClr val="0632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704088"/>
            <a:ext cx="-100584" cy="-201168"/>
          </a:xfrm>
          <a:prstGeom prst="line">
            <a:avLst/>
          </a:prstGeom>
          <a:noFill/>
          <a:ln w="38100">
            <a:solidFill>
              <a:srgbClr val="1EB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SYNTAX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partner to put this into production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520440" cy="31089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20240"/>
            <a:ext cx="352044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331720"/>
            <a:ext cx="868680" cy="868680"/>
          </a:xfrm>
          <a:prstGeom prst="ellipse">
            <a:avLst/>
          </a:prstGeom>
          <a:solidFill>
            <a:srgbClr val="0632A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51176"/>
            <a:ext cx="429768" cy="4297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EBS expertise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6868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running Oracle E-Business Suite for enterprise customers — we know your AP, PO and GL setup.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43400" y="1920240"/>
            <a:ext cx="3520440" cy="31089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43400" y="1920240"/>
            <a:ext cx="3520440" cy="109728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rgbClr val="1EB4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551176"/>
            <a:ext cx="429768" cy="42976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6344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build in hand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66344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working, QA'd agent proven against live Vision data — not slideware. Ready to point at your instance.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138160" y="1920240"/>
            <a:ext cx="3520440" cy="3108960"/>
          </a:xfrm>
          <a:prstGeom prst="rect">
            <a:avLst/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  <a:effectLst>
            <a:outerShdw sx="100000" sy="100000" kx="0" ky="0" algn="bl" rotWithShape="0" blurRad="114300" dist="38100" dir="8100000">
              <a:srgbClr val="0A1A40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38160" y="1920240"/>
            <a:ext cx="3520440" cy="109728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21" name="Shape 17"/>
          <p:cNvSpPr/>
          <p:nvPr/>
        </p:nvSpPr>
        <p:spPr>
          <a:xfrm>
            <a:off x="8458200" y="2331720"/>
            <a:ext cx="868680" cy="868680"/>
          </a:xfrm>
          <a:prstGeom prst="ellipse">
            <a:avLst/>
          </a:prstGeom>
          <a:solidFill>
            <a:srgbClr val="3CC85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2551176"/>
            <a:ext cx="429768" cy="4297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45820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 + PAF aligned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45820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for the Private Agent Factory motion on AI Database 26ai, with TCO and licensing mapped.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· Confidential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1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035040"/>
            <a:ext cx="2194560" cy="0"/>
          </a:xfrm>
          <a:prstGeom prst="line">
            <a:avLst/>
          </a:prstGeom>
          <a:noFill/>
          <a:ln w="38100">
            <a:solidFill>
              <a:srgbClr val="3CC85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6035040"/>
            <a:ext cx="1097280" cy="-2194560"/>
          </a:xfrm>
          <a:prstGeom prst="line">
            <a:avLst/>
          </a:prstGeom>
          <a:noFill/>
          <a:ln w="38100">
            <a:solidFill>
              <a:srgbClr val="0632A0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0" y="6035040"/>
            <a:ext cx="-1097280" cy="-2194560"/>
          </a:xfrm>
          <a:prstGeom prst="line">
            <a:avLst/>
          </a:prstGeom>
          <a:noFill/>
          <a:ln w="38100">
            <a:solidFill>
              <a:srgbClr val="1EB4E6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548640"/>
            <a:ext cx="21488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</p:spPr>
      </p:sp>
      <p:pic>
        <p:nvPicPr>
          <p:cNvPr id="6" name="Image 0" descr="/Users/mikemiller/.claude/skills/ebs-paf-agent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676656"/>
            <a:ext cx="1691640" cy="8931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run it on your EBS instance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566928" y="3520440"/>
            <a:ext cx="640080" cy="640080"/>
          </a:xfrm>
          <a:prstGeom prst="ellipse">
            <a:avLst/>
          </a:prstGeom>
          <a:solidFill>
            <a:srgbClr val="3CC85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1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344168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66928" y="42976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AP volumes, invoice mix and target operating unit.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520440"/>
            <a:ext cx="640080" cy="640080"/>
          </a:xfrm>
          <a:prstGeom prst="ellipse">
            <a:avLst/>
          </a:prstGeom>
          <a:solidFill>
            <a:srgbClr val="3CC85A"/>
          </a:solidFill>
          <a:ln/>
        </p:spPr>
      </p:sp>
      <p:sp>
        <p:nvSpPr>
          <p:cNvPr id="14" name="Text 11"/>
          <p:cNvSpPr/>
          <p:nvPr/>
        </p:nvSpPr>
        <p:spPr>
          <a:xfrm>
            <a:off x="4315968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1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093208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 of value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315968" y="42976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agent at a read-only EBS copy; demo a live 3-way match.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520440"/>
            <a:ext cx="640080" cy="640080"/>
          </a:xfrm>
          <a:prstGeom prst="ellipse">
            <a:avLst/>
          </a:prstGeom>
          <a:solidFill>
            <a:srgbClr val="3CC85A"/>
          </a:solidFill>
          <a:ln/>
        </p:spPr>
      </p:sp>
      <p:sp>
        <p:nvSpPr>
          <p:cNvPr id="18" name="Text 15"/>
          <p:cNvSpPr/>
          <p:nvPr/>
        </p:nvSpPr>
        <p:spPr>
          <a:xfrm>
            <a:off x="8065008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1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842248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Productionize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065008" y="42976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PAF / 26ai with AME approvals and scheduled import.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5669280"/>
            <a:ext cx="11064240" cy="0"/>
          </a:xfrm>
          <a:prstGeom prst="line">
            <a:avLst/>
          </a:prstGeom>
          <a:noFill/>
          <a:ln w="12700">
            <a:solidFill>
              <a:srgbClr val="2746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 ·  EBS AP Invoice Automation Agent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AP Invoice Automation Agent</dc:title>
  <dc:subject>PptxGenJS Presentation</dc:subject>
  <dc:creator>Syntax Corporation</dc:creator>
  <cp:lastModifiedBy>Syntax Corporation</cp:lastModifiedBy>
  <cp:revision>1</cp:revision>
  <dcterms:created xsi:type="dcterms:W3CDTF">2026-06-08T19:12:47Z</dcterms:created>
  <dcterms:modified xsi:type="dcterms:W3CDTF">2026-06-08T19:12:47Z</dcterms:modified>
</cp:coreProperties>
</file>