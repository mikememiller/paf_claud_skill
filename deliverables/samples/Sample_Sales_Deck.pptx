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value ($K)</c:v>
                </c:pt>
              </c:strCache>
            </c:strRef>
          </c:tx>
          <c:spPr>
            <a:solidFill>
              <a:srgbClr val="0632A0"/>
            </a:solidFill>
            <a:effectLst/>
          </c:spPr>
          <c:invertIfNegative val="0"/>
          <c:dLbls>
            <c:numFmt formatCode="&quot;$&quot;0&quot;K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0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32A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B4E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CC85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1D48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Processing
cost</c:v>
                  </c:pt>
                  <c:pt idx="1">
                    <c:v>Early-pay
discounts</c:v>
                  </c:pt>
                  <c:pt idx="2">
                    <c:v>Duplicate
prevention</c:v>
                  </c:pt>
                  <c:pt idx="3">
                    <c:v>Audit /
compliance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475</c:v>
                </c:pt>
                <c:pt idx="1">
                  <c:v>225</c:v>
                </c:pt>
                <c:pt idx="2">
                  <c:v>150</c:v>
                </c:pt>
                <c:pt idx="3">
                  <c:v>80</c:v>
                </c:pt>
              </c:numCache>
            </c:numRef>
          </c:val>
        </c:ser>
        <c:dLbls>
          <c:numFmt formatCode="&quot;$&quot;0&quot;K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620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7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1F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3931920"/>
            <a:ext cx="2834640" cy="0"/>
          </a:xfrm>
          <a:prstGeom prst="line">
            <a:avLst/>
          </a:prstGeom>
          <a:noFill/>
          <a:ln w="38100">
            <a:solidFill>
              <a:srgbClr val="3CC85A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3931920"/>
            <a:ext cx="1417320" cy="-2834640"/>
          </a:xfrm>
          <a:prstGeom prst="line">
            <a:avLst/>
          </a:prstGeom>
          <a:noFill/>
          <a:ln w="38100">
            <a:solidFill>
              <a:srgbClr val="0632A0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04320" y="3931920"/>
            <a:ext cx="-1417320" cy="-2834640"/>
          </a:xfrm>
          <a:prstGeom prst="line">
            <a:avLst/>
          </a:prstGeom>
          <a:noFill/>
          <a:ln w="38100">
            <a:solidFill>
              <a:srgbClr val="1EB4E6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57200"/>
            <a:ext cx="2286000" cy="1243584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A1A40">
                <a:alpha val="14000"/>
              </a:srgbClr>
            </a:outerShdw>
          </a:effectLst>
        </p:spPr>
      </p:sp>
      <p:pic>
        <p:nvPicPr>
          <p:cNvPr id="6" name="Image 0" descr="/Users/mikemiller/.claude/skills/ebs-paf-agent/assets/syntax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03504"/>
            <a:ext cx="1828800" cy="965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2331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B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AGENT FACTORY · ORACLE E-BUSINESS SUITE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6974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 Invoice Automation Agent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566928" y="388620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Invoice-to-Match for EBS — extract, 3-way match, and code supplier invoices straight into the Payables Open Interface, validated against your live EBS data.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66928" y="50749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CC8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$2–3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566928" y="56235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/ invoice, automated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310128" y="50749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CC8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~$930K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3310128" y="56235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value (50K invoices)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053328" y="50749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CC8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6053328" y="56235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preserved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95528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Corporation ©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704088"/>
            <a:ext cx="201168" cy="0"/>
          </a:xfrm>
          <a:prstGeom prst="line">
            <a:avLst/>
          </a:prstGeom>
          <a:noFill/>
          <a:ln w="38100">
            <a:solidFill>
              <a:srgbClr val="3CC8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704088"/>
            <a:ext cx="100584" cy="-201168"/>
          </a:xfrm>
          <a:prstGeom prst="line">
            <a:avLst/>
          </a:prstGeom>
          <a:noFill/>
          <a:ln w="38100">
            <a:solidFill>
              <a:srgbClr val="0632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704088"/>
            <a:ext cx="-100584" cy="-201168"/>
          </a:xfrm>
          <a:prstGeom prst="line">
            <a:avLst/>
          </a:prstGeom>
          <a:noFill/>
          <a:ln w="38100">
            <a:solidFill>
              <a:srgbClr val="1EB4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63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412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AP is slow, costly, and error-prone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3520440" cy="2743200"/>
          </a:xfrm>
          <a:prstGeom prst="rect">
            <a:avLst/>
          </a:prstGeom>
          <a:solidFill>
            <a:srgbClr val="F4F7FC"/>
          </a:solidFill>
          <a:ln w="12700">
            <a:solidFill>
              <a:srgbClr val="DCE4F4"/>
            </a:solidFill>
            <a:prstDash val="solid"/>
          </a:ln>
          <a:effectLst>
            <a:outerShdw sx="100000" sy="100000" kx="0" ky="0" algn="bl" rotWithShape="0" blurRad="114300" dist="38100" dir="8100000">
              <a:srgbClr val="0A1A40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2194560"/>
            <a:ext cx="868680" cy="868680"/>
          </a:xfrm>
          <a:prstGeom prst="ellipse">
            <a:avLst/>
          </a:prstGeom>
          <a:solidFill>
            <a:srgbClr val="0632A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2414016"/>
            <a:ext cx="429768" cy="4297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32461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32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$12–15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868680" y="38862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fully-loaded cost to process one invoice by hand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343400" y="1828800"/>
            <a:ext cx="3520440" cy="2743200"/>
          </a:xfrm>
          <a:prstGeom prst="rect">
            <a:avLst/>
          </a:prstGeom>
          <a:solidFill>
            <a:srgbClr val="F4F7FC"/>
          </a:solidFill>
          <a:ln w="12700">
            <a:solidFill>
              <a:srgbClr val="DCE4F4"/>
            </a:solidFill>
            <a:prstDash val="solid"/>
          </a:ln>
          <a:effectLst>
            <a:outerShdw sx="100000" sy="100000" kx="0" ky="0" algn="bl" rotWithShape="0" blurRad="114300" dist="38100" dir="8100000">
              <a:srgbClr val="0A1A4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3440" y="2194560"/>
            <a:ext cx="868680" cy="868680"/>
          </a:xfrm>
          <a:prstGeom prst="ellipse">
            <a:avLst/>
          </a:prstGeom>
          <a:solidFill>
            <a:srgbClr val="0632A0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896" y="2414016"/>
            <a:ext cx="429768" cy="4297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63440" y="32461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32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8–10 days</a:t>
            </a:r>
            <a:endParaRPr lang="en-US" sz="2800" dirty="0"/>
          </a:p>
        </p:txBody>
      </p:sp>
      <p:sp>
        <p:nvSpPr>
          <p:cNvPr id="16" name="Text 12"/>
          <p:cNvSpPr/>
          <p:nvPr/>
        </p:nvSpPr>
        <p:spPr>
          <a:xfrm>
            <a:off x="4663440" y="38862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cycle time — late payments, missed discounts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8138160" y="1828800"/>
            <a:ext cx="3520440" cy="2743200"/>
          </a:xfrm>
          <a:prstGeom prst="rect">
            <a:avLst/>
          </a:prstGeom>
          <a:solidFill>
            <a:srgbClr val="F4F7FC"/>
          </a:solidFill>
          <a:ln w="12700">
            <a:solidFill>
              <a:srgbClr val="DCE4F4"/>
            </a:solidFill>
            <a:prstDash val="solid"/>
          </a:ln>
          <a:effectLst>
            <a:outerShdw sx="100000" sy="100000" kx="0" ky="0" algn="bl" rotWithShape="0" blurRad="114300" dist="38100" dir="8100000">
              <a:srgbClr val="0A1A40">
                <a:alpha val="14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458200" y="2194560"/>
            <a:ext cx="868680" cy="868680"/>
          </a:xfrm>
          <a:prstGeom prst="ellipse">
            <a:avLst/>
          </a:prstGeom>
          <a:solidFill>
            <a:srgbClr val="0632A0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7656" y="2414016"/>
            <a:ext cx="429768" cy="42976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58200" y="32461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32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1–3%</a:t>
            </a:r>
            <a:endParaRPr lang="en-US" sz="2800" dirty="0"/>
          </a:p>
        </p:txBody>
      </p:sp>
      <p:sp>
        <p:nvSpPr>
          <p:cNvPr id="21" name="Text 16"/>
          <p:cNvSpPr/>
          <p:nvPr/>
        </p:nvSpPr>
        <p:spPr>
          <a:xfrm>
            <a:off x="8458200" y="38862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spend lost to duplicate and over-billed invoices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548640" y="4937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automation is a $3B+ category with multiple unicorns. Every EBS shop runs tens of thousands to millions of invoices a year — and pays incumbents $3–8 each.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Corporation · Confidential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704088"/>
            <a:ext cx="201168" cy="0"/>
          </a:xfrm>
          <a:prstGeom prst="line">
            <a:avLst/>
          </a:prstGeom>
          <a:noFill/>
          <a:ln w="38100">
            <a:solidFill>
              <a:srgbClr val="3CC8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704088"/>
            <a:ext cx="100584" cy="-201168"/>
          </a:xfrm>
          <a:prstGeom prst="line">
            <a:avLst/>
          </a:prstGeom>
          <a:noFill/>
          <a:ln w="38100">
            <a:solidFill>
              <a:srgbClr val="0632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704088"/>
            <a:ext cx="-100584" cy="-201168"/>
          </a:xfrm>
          <a:prstGeom prst="line">
            <a:avLst/>
          </a:prstGeom>
          <a:noFill/>
          <a:ln w="38100">
            <a:solidFill>
              <a:srgbClr val="1EB4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63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412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EBS-native agent that does the AP grunt work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868680" cy="868680"/>
          </a:xfrm>
          <a:prstGeom prst="ellipse">
            <a:avLst/>
          </a:prstGeom>
          <a:solidFill>
            <a:srgbClr val="0632A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2093976"/>
            <a:ext cx="429768" cy="4297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18288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Reads any invoice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600200" y="2258568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email or text — a deterministic parser (zero external deps) with an optional LLM for messy/scanned docs.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1874520"/>
            <a:ext cx="868680" cy="868680"/>
          </a:xfrm>
          <a:prstGeom prst="ellipse">
            <a:avLst/>
          </a:prstGeom>
          <a:solidFill>
            <a:srgbClr val="1EB4E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656" y="2093976"/>
            <a:ext cx="429768" cy="4297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23760" y="18288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Checks live EBS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223760" y="2258568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Supplier, PO, receipts, tax and GL — read-only, org-scoped lookups against the real E-Business Suite.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3291840"/>
            <a:ext cx="868680" cy="868680"/>
          </a:xfrm>
          <a:prstGeom prst="ellipse">
            <a:avLst/>
          </a:prstGeom>
          <a:solidFill>
            <a:srgbClr val="0632A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3511296"/>
            <a:ext cx="429768" cy="4297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2461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Matches &amp; codes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600200" y="3675888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3-way match with price/qty tolerances, GL distribution inheritance and tax classification.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72200" y="3291840"/>
            <a:ext cx="868680" cy="868680"/>
          </a:xfrm>
          <a:prstGeom prst="ellipse">
            <a:avLst/>
          </a:prstGeom>
          <a:solidFill>
            <a:srgbClr val="1EB4E6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656" y="3511296"/>
            <a:ext cx="429768" cy="4297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223760" y="32461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Validates &amp; delivers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7223760" y="3675888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QA gate proves every invoice balances before it writes balanced AP Open Interface files.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63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agentic pattern as Oracle's Private Agent Factory contract-renewal blog — pointed at the far larger AP revenue pool.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Corporation · Confidential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704088"/>
            <a:ext cx="201168" cy="0"/>
          </a:xfrm>
          <a:prstGeom prst="line">
            <a:avLst/>
          </a:prstGeom>
          <a:noFill/>
          <a:ln w="38100">
            <a:solidFill>
              <a:srgbClr val="3CC8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704088"/>
            <a:ext cx="100584" cy="-201168"/>
          </a:xfrm>
          <a:prstGeom prst="line">
            <a:avLst/>
          </a:prstGeom>
          <a:noFill/>
          <a:ln w="38100">
            <a:solidFill>
              <a:srgbClr val="0632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704088"/>
            <a:ext cx="-100584" cy="-201168"/>
          </a:xfrm>
          <a:prstGeom prst="line">
            <a:avLst/>
          </a:prstGeom>
          <a:noFill/>
          <a:ln w="38100">
            <a:solidFill>
              <a:srgbClr val="1EB4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63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412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EBS 19c owns the data + logic; PAF + managed MCP do the rest</a:t>
            </a:r>
            <a:endParaRPr lang="en-US" sz="2800" dirty="0"/>
          </a:p>
        </p:txBody>
      </p:sp>
      <p:pic>
        <p:nvPicPr>
          <p:cNvPr id="7" name="Image 0" descr="deliverables/samples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463040"/>
            <a:ext cx="9692640" cy="54521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Corporation · Confidential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704088"/>
            <a:ext cx="201168" cy="0"/>
          </a:xfrm>
          <a:prstGeom prst="line">
            <a:avLst/>
          </a:prstGeom>
          <a:noFill/>
          <a:ln w="38100">
            <a:solidFill>
              <a:srgbClr val="3CC8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704088"/>
            <a:ext cx="100584" cy="-201168"/>
          </a:xfrm>
          <a:prstGeom prst="line">
            <a:avLst/>
          </a:prstGeom>
          <a:noFill/>
          <a:ln w="38100">
            <a:solidFill>
              <a:srgbClr val="0632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704088"/>
            <a:ext cx="-100584" cy="-201168"/>
          </a:xfrm>
          <a:prstGeom prst="line">
            <a:avLst/>
          </a:prstGeom>
          <a:noFill/>
          <a:ln w="38100">
            <a:solidFill>
              <a:srgbClr val="1EB4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63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CONTROL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412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auditors, not just speed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5394960" cy="1280160"/>
          </a:xfrm>
          <a:prstGeom prst="rect">
            <a:avLst/>
          </a:prstGeom>
          <a:solidFill>
            <a:srgbClr val="F4F7FC"/>
          </a:solidFill>
          <a:ln w="12700">
            <a:solidFill>
              <a:srgbClr val="DCE4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212848"/>
            <a:ext cx="713232" cy="713232"/>
          </a:xfrm>
          <a:prstGeom prst="ellipse">
            <a:avLst/>
          </a:prstGeom>
          <a:solidFill>
            <a:srgbClr val="3CC85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2386584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37360" y="21031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Read-only by design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1737360" y="246888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SELECTs against EBS; the single write path is off by default and touches interface tables only.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72200" y="1920240"/>
            <a:ext cx="5394960" cy="1280160"/>
          </a:xfrm>
          <a:prstGeom prst="rect">
            <a:avLst/>
          </a:prstGeom>
          <a:solidFill>
            <a:srgbClr val="F4F7FC"/>
          </a:solidFill>
          <a:ln w="12700">
            <a:solidFill>
              <a:srgbClr val="DCE4F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46520" y="2212848"/>
            <a:ext cx="713232" cy="713232"/>
          </a:xfrm>
          <a:prstGeom prst="ellipse">
            <a:avLst/>
          </a:prstGeom>
          <a:solidFill>
            <a:srgbClr val="3CC85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56" y="2386584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360920" y="21031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Multi-org safe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7360920" y="246888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Org-scoped queries + FND_GLOBAL.APPS_INITIALIZE context; bind variables everywhere — no injection surface.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48640" y="3383280"/>
            <a:ext cx="5394960" cy="1280160"/>
          </a:xfrm>
          <a:prstGeom prst="rect">
            <a:avLst/>
          </a:prstGeom>
          <a:solidFill>
            <a:srgbClr val="F4F7FC"/>
          </a:solidFill>
          <a:ln w="12700">
            <a:solidFill>
              <a:srgbClr val="DCE4F4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22960" y="3675888"/>
            <a:ext cx="713232" cy="713232"/>
          </a:xfrm>
          <a:prstGeom prst="ellipse">
            <a:avLst/>
          </a:prstGeom>
          <a:solidFill>
            <a:srgbClr val="3CC85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3849624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737360" y="35661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Deterministic policy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1737360" y="393192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Match, tolerance and coding rules live outside the LLM — reproducible and explainable for SOX.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172200" y="3383280"/>
            <a:ext cx="5394960" cy="1280160"/>
          </a:xfrm>
          <a:prstGeom prst="rect">
            <a:avLst/>
          </a:prstGeom>
          <a:solidFill>
            <a:srgbClr val="F4F7FC"/>
          </a:solidFill>
          <a:ln w="12700">
            <a:solidFill>
              <a:srgbClr val="DCE4F4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446520" y="3675888"/>
            <a:ext cx="713232" cy="713232"/>
          </a:xfrm>
          <a:prstGeom prst="ellipse">
            <a:avLst/>
          </a:prstGeom>
          <a:solidFill>
            <a:srgbClr val="3CC85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256" y="3849624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60920" y="35661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QA gate before load</a:t>
            </a:r>
            <a:endParaRPr lang="en-US" sz="1550" dirty="0"/>
          </a:p>
        </p:txBody>
      </p:sp>
      <p:sp>
        <p:nvSpPr>
          <p:cNvPr id="26" name="Text 20"/>
          <p:cNvSpPr/>
          <p:nvPr/>
        </p:nvSpPr>
        <p:spPr>
          <a:xfrm>
            <a:off x="7360920" y="393192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invoice is checked to balance, reconcile and resolve all FKs; failures are held, never imported.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63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interface row is stamped with the agent run-id and a confidence score — traceable end to end.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Corporation · Confidential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41F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1737360"/>
            <a:ext cx="1280160" cy="0"/>
          </a:xfrm>
          <a:prstGeom prst="line">
            <a:avLst/>
          </a:prstGeom>
          <a:noFill/>
          <a:ln w="38100">
            <a:solidFill>
              <a:srgbClr val="3CC85A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24160" y="1737360"/>
            <a:ext cx="640080" cy="-1280160"/>
          </a:xfrm>
          <a:prstGeom prst="line">
            <a:avLst/>
          </a:prstGeom>
          <a:noFill/>
          <a:ln w="38100">
            <a:solidFill>
              <a:srgbClr val="0632A0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04320" y="1737360"/>
            <a:ext cx="-640080" cy="-1280160"/>
          </a:xfrm>
          <a:prstGeom prst="line">
            <a:avLst/>
          </a:prstGeom>
          <a:noFill/>
          <a:ln w="38100">
            <a:solidFill>
              <a:srgbClr val="1EB4E6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B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ON LIVE EBS VISION DATA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invoice. Real PO. Clean match.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486400" cy="4023360"/>
          </a:xfrm>
          <a:prstGeom prst="rect">
            <a:avLst/>
          </a:prstGeom>
          <a:solidFill>
            <a:srgbClr val="0B2A78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103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Purchase Order 3495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8680" y="25420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B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Network Devices · Org 204 · Oracle EBS 19c Vision</a:t>
            </a:r>
            <a:endParaRPr lang="en-US" sz="12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099816"/>
            <a:ext cx="310896" cy="31089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25880" y="3063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lines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325880" y="337413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monitors, RAM, hard drives</a:t>
            </a:r>
            <a:endParaRPr lang="en-US" sz="11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813048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25880" y="37764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 / 500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325880" y="40873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invoiced vs received on every line</a:t>
            </a:r>
            <a:endParaRPr lang="en-US" sz="11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526280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448970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01-520-7530-0000-000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25880" y="48006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distribution inherited from the PO</a:t>
            </a:r>
            <a:endParaRPr lang="en-US" sz="11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239512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25880" y="520293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$632,500.00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1325880" y="55138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total — header balances to lines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6355080" y="1874520"/>
            <a:ext cx="525780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A1A40">
                <a:alpha val="14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549640" y="2240280"/>
            <a:ext cx="914400" cy="914400"/>
          </a:xfrm>
          <a:prstGeom prst="ellipse">
            <a:avLst/>
          </a:prstGeom>
          <a:solidFill>
            <a:srgbClr val="3CC85A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9096" y="2459736"/>
            <a:ext cx="475488" cy="47548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583680" y="329184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STATUS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6583680" y="3584448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CC8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</a:t>
            </a:r>
            <a:endParaRPr lang="en-US" sz="5400" dirty="0"/>
          </a:p>
        </p:txBody>
      </p:sp>
      <p:sp>
        <p:nvSpPr>
          <p:cNvPr id="27" name="Text 20"/>
          <p:cNvSpPr/>
          <p:nvPr/>
        </p:nvSpPr>
        <p:spPr>
          <a:xfrm>
            <a:off x="6583680" y="45262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lines auto-approved · 0 errors · loadable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6583680" y="502920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against the live database during the build — not a mock.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Corporation ·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704088"/>
            <a:ext cx="201168" cy="0"/>
          </a:xfrm>
          <a:prstGeom prst="line">
            <a:avLst/>
          </a:prstGeom>
          <a:noFill/>
          <a:ln w="38100">
            <a:solidFill>
              <a:srgbClr val="3CC8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704088"/>
            <a:ext cx="100584" cy="-201168"/>
          </a:xfrm>
          <a:prstGeom prst="line">
            <a:avLst/>
          </a:prstGeom>
          <a:noFill/>
          <a:ln w="38100">
            <a:solidFill>
              <a:srgbClr val="0632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704088"/>
            <a:ext cx="-100584" cy="-201168"/>
          </a:xfrm>
          <a:prstGeom prst="line">
            <a:avLst/>
          </a:prstGeom>
          <a:noFill/>
          <a:ln w="38100">
            <a:solidFill>
              <a:srgbClr val="1EB4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63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412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~$930K of annual value at 50K invoices/yr</a:t>
            </a:r>
            <a:endParaRPr lang="en-US" sz="2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828800"/>
          <a:ext cx="67665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680960" y="1828800"/>
            <a:ext cx="3931920" cy="4023360"/>
          </a:xfrm>
          <a:prstGeom prst="rect">
            <a:avLst/>
          </a:prstGeom>
          <a:solidFill>
            <a:srgbClr val="041F66"/>
          </a:solidFill>
          <a:ln/>
        </p:spPr>
      </p:sp>
      <p:sp>
        <p:nvSpPr>
          <p:cNvPr id="9" name="Text 6"/>
          <p:cNvSpPr/>
          <p:nvPr/>
        </p:nvSpPr>
        <p:spPr>
          <a:xfrm>
            <a:off x="7955280" y="2148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1EB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list price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955280" y="24688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$25K–$50K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7955280" y="31089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year, priced per invoice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955280" y="3657600"/>
            <a:ext cx="3383280" cy="0"/>
          </a:xfrm>
          <a:prstGeom prst="line">
            <a:avLst/>
          </a:prstGeom>
          <a:noFill/>
          <a:ln w="12700">
            <a:solidFill>
              <a:srgbClr val="27468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955280" y="38404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CC8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20–40×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7955280" y="45262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the agent fee — with margin to share with partners.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~$822,520/yr · payback ~1.4 mo · implementation $30,400 (fixed)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Corporation · Confidential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704088"/>
            <a:ext cx="201168" cy="0"/>
          </a:xfrm>
          <a:prstGeom prst="line">
            <a:avLst/>
          </a:prstGeom>
          <a:noFill/>
          <a:ln w="38100">
            <a:solidFill>
              <a:srgbClr val="3CC8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704088"/>
            <a:ext cx="100584" cy="-201168"/>
          </a:xfrm>
          <a:prstGeom prst="line">
            <a:avLst/>
          </a:prstGeom>
          <a:noFill/>
          <a:ln w="38100">
            <a:solidFill>
              <a:srgbClr val="0632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704088"/>
            <a:ext cx="-100584" cy="-201168"/>
          </a:xfrm>
          <a:prstGeom prst="line">
            <a:avLst/>
          </a:prstGeom>
          <a:noFill/>
          <a:ln w="38100">
            <a:solidFill>
              <a:srgbClr val="1EB4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63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SYNTAX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412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partner to put this into production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3520440" cy="3108960"/>
          </a:xfrm>
          <a:prstGeom prst="rect">
            <a:avLst/>
          </a:prstGeom>
          <a:solidFill>
            <a:srgbClr val="F4F7FC"/>
          </a:solidFill>
          <a:ln w="12700">
            <a:solidFill>
              <a:srgbClr val="DCE4F4"/>
            </a:solidFill>
            <a:prstDash val="solid"/>
          </a:ln>
          <a:effectLst>
            <a:outerShdw sx="100000" sy="100000" kx="0" ky="0" algn="bl" rotWithShape="0" blurRad="114300" dist="38100" dir="8100000">
              <a:srgbClr val="0A1A40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920240"/>
            <a:ext cx="3520440" cy="109728"/>
          </a:xfrm>
          <a:prstGeom prst="rect">
            <a:avLst/>
          </a:prstGeom>
          <a:solidFill>
            <a:srgbClr val="0632A0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2331720"/>
            <a:ext cx="868680" cy="868680"/>
          </a:xfrm>
          <a:prstGeom prst="ellipse">
            <a:avLst/>
          </a:prstGeom>
          <a:solidFill>
            <a:srgbClr val="0632A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2551176"/>
            <a:ext cx="429768" cy="4297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68680" y="3383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EBS expertise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68680" y="384048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Decades running Oracle E-Business Suite for enterprise customers — we know your AP, PO and GL setup.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343400" y="1920240"/>
            <a:ext cx="3520440" cy="3108960"/>
          </a:xfrm>
          <a:prstGeom prst="rect">
            <a:avLst/>
          </a:prstGeom>
          <a:solidFill>
            <a:srgbClr val="F4F7FC"/>
          </a:solidFill>
          <a:ln w="12700">
            <a:solidFill>
              <a:srgbClr val="DCE4F4"/>
            </a:solidFill>
            <a:prstDash val="solid"/>
          </a:ln>
          <a:effectLst>
            <a:outerShdw sx="100000" sy="100000" kx="0" ky="0" algn="bl" rotWithShape="0" blurRad="114300" dist="38100" dir="8100000">
              <a:srgbClr val="0A1A40">
                <a:alpha val="1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43400" y="1920240"/>
            <a:ext cx="3520440" cy="109728"/>
          </a:xfrm>
          <a:prstGeom prst="rect">
            <a:avLst/>
          </a:prstGeom>
          <a:solidFill>
            <a:srgbClr val="1EB4E6"/>
          </a:solidFill>
          <a:ln/>
        </p:spPr>
      </p:sp>
      <p:sp>
        <p:nvSpPr>
          <p:cNvPr id="15" name="Shape 12"/>
          <p:cNvSpPr/>
          <p:nvPr/>
        </p:nvSpPr>
        <p:spPr>
          <a:xfrm>
            <a:off x="4663440" y="2331720"/>
            <a:ext cx="868680" cy="868680"/>
          </a:xfrm>
          <a:prstGeom prst="ellipse">
            <a:avLst/>
          </a:prstGeom>
          <a:solidFill>
            <a:srgbClr val="1EB4E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896" y="2551176"/>
            <a:ext cx="429768" cy="42976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663440" y="3383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 build in hand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4663440" y="384048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working, QA'd agent proven against live Vision data — not slideware. Ready to point at your instance.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8138160" y="1920240"/>
            <a:ext cx="3520440" cy="3108960"/>
          </a:xfrm>
          <a:prstGeom prst="rect">
            <a:avLst/>
          </a:prstGeom>
          <a:solidFill>
            <a:srgbClr val="F4F7FC"/>
          </a:solidFill>
          <a:ln w="12700">
            <a:solidFill>
              <a:srgbClr val="DCE4F4"/>
            </a:solidFill>
            <a:prstDash val="solid"/>
          </a:ln>
          <a:effectLst>
            <a:outerShdw sx="100000" sy="100000" kx="0" ky="0" algn="bl" rotWithShape="0" blurRad="114300" dist="38100" dir="8100000">
              <a:srgbClr val="0A1A40">
                <a:alpha val="14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138160" y="1920240"/>
            <a:ext cx="3520440" cy="109728"/>
          </a:xfrm>
          <a:prstGeom prst="rect">
            <a:avLst/>
          </a:prstGeom>
          <a:solidFill>
            <a:srgbClr val="3CC85A"/>
          </a:solidFill>
          <a:ln/>
        </p:spPr>
      </p:sp>
      <p:sp>
        <p:nvSpPr>
          <p:cNvPr id="21" name="Shape 17"/>
          <p:cNvSpPr/>
          <p:nvPr/>
        </p:nvSpPr>
        <p:spPr>
          <a:xfrm>
            <a:off x="8458200" y="2331720"/>
            <a:ext cx="868680" cy="868680"/>
          </a:xfrm>
          <a:prstGeom prst="ellipse">
            <a:avLst/>
          </a:prstGeom>
          <a:solidFill>
            <a:srgbClr val="3CC85A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7656" y="2551176"/>
            <a:ext cx="429768" cy="42976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458200" y="3383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OCI + PAF aligned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8458200" y="384048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Positioned for the Private Agent Factory motion on AI Database 26ai, with TCO and licensing mapped.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Corporation · Confidential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41F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6035040"/>
            <a:ext cx="2194560" cy="0"/>
          </a:xfrm>
          <a:prstGeom prst="line">
            <a:avLst/>
          </a:prstGeom>
          <a:noFill/>
          <a:ln w="38100">
            <a:solidFill>
              <a:srgbClr val="3CC85A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6035040"/>
            <a:ext cx="1097280" cy="-2194560"/>
          </a:xfrm>
          <a:prstGeom prst="line">
            <a:avLst/>
          </a:prstGeom>
          <a:noFill/>
          <a:ln w="38100">
            <a:solidFill>
              <a:srgbClr val="0632A0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0" y="6035040"/>
            <a:ext cx="-1097280" cy="-2194560"/>
          </a:xfrm>
          <a:prstGeom prst="line">
            <a:avLst/>
          </a:prstGeom>
          <a:noFill/>
          <a:ln w="38100">
            <a:solidFill>
              <a:srgbClr val="1EB4E6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548640"/>
            <a:ext cx="21488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</p:spPr>
      </p:sp>
      <p:pic>
        <p:nvPicPr>
          <p:cNvPr id="6" name="Image 0" descr="/Users/mikemiller/.claude/skills/ebs-paf-agent/assets/syntax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676656"/>
            <a:ext cx="1691640" cy="8931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2011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B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3774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run it on your EBS instance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566928" y="3520440"/>
            <a:ext cx="640080" cy="640080"/>
          </a:xfrm>
          <a:prstGeom prst="ellipse">
            <a:avLst/>
          </a:prstGeom>
          <a:solidFill>
            <a:srgbClr val="3CC85A"/>
          </a:solidFill>
          <a:ln/>
        </p:spPr>
      </p:sp>
      <p:sp>
        <p:nvSpPr>
          <p:cNvPr id="10" name="Text 7"/>
          <p:cNvSpPr/>
          <p:nvPr/>
        </p:nvSpPr>
        <p:spPr>
          <a:xfrm>
            <a:off x="566928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1F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344168" y="35661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566928" y="429768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AP volumes, invoice mix and target operating unit.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315968" y="3520440"/>
            <a:ext cx="640080" cy="640080"/>
          </a:xfrm>
          <a:prstGeom prst="ellipse">
            <a:avLst/>
          </a:prstGeom>
          <a:solidFill>
            <a:srgbClr val="3CC85A"/>
          </a:solidFill>
          <a:ln/>
        </p:spPr>
      </p:sp>
      <p:sp>
        <p:nvSpPr>
          <p:cNvPr id="14" name="Text 11"/>
          <p:cNvSpPr/>
          <p:nvPr/>
        </p:nvSpPr>
        <p:spPr>
          <a:xfrm>
            <a:off x="4315968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1F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093208" y="35661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Proof of value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4315968" y="429768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the agent at a read-only EBS copy; demo a live 3-way match.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065008" y="3520440"/>
            <a:ext cx="640080" cy="640080"/>
          </a:xfrm>
          <a:prstGeom prst="ellipse">
            <a:avLst/>
          </a:prstGeom>
          <a:solidFill>
            <a:srgbClr val="3CC85A"/>
          </a:solidFill>
          <a:ln/>
        </p:spPr>
      </p:sp>
      <p:sp>
        <p:nvSpPr>
          <p:cNvPr id="18" name="Text 15"/>
          <p:cNvSpPr/>
          <p:nvPr/>
        </p:nvSpPr>
        <p:spPr>
          <a:xfrm>
            <a:off x="8065008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1F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8842248" y="35661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Productionize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8065008" y="429768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PAF / 26ai with AME approvals and scheduled import.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66928" y="5669280"/>
            <a:ext cx="11064240" cy="0"/>
          </a:xfrm>
          <a:prstGeom prst="line">
            <a:avLst/>
          </a:prstGeom>
          <a:noFill/>
          <a:ln w="12700">
            <a:solidFill>
              <a:srgbClr val="27468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6928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Corporation © 2026  ·  EBS AP Invoice Automation Agent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EBS AP Invoice Automation Agent</dc:title>
  <dc:subject>PptxGenJS Presentation</dc:subject>
  <dc:creator>Syntax Corporation</dc:creator>
  <cp:lastModifiedBy>Syntax Corporation</cp:lastModifiedBy>
  <cp:revision>1</cp:revision>
  <dcterms:created xsi:type="dcterms:W3CDTF">2026-06-08T20:17:49Z</dcterms:created>
  <dcterms:modified xsi:type="dcterms:W3CDTF">2026-06-08T20:17:49Z</dcterms:modified>
</cp:coreProperties>
</file>